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91840"/>
            <a:ext cx="3200400" cy="3200400"/>
          </a:xfrm>
          <a:prstGeom prst="ellipse">
            <a:avLst/>
          </a:prstGeom>
          <a:solidFill>
            <a:srgbClr val="1560A8">
              <a:alpha val="70000"/>
            </a:srgbClr>
          </a:solidFill>
          <a:ln w="12700">
            <a:solidFill>
              <a:srgbClr val="1560A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-457200"/>
            <a:ext cx="1828800" cy="1828800"/>
          </a:xfrm>
          <a:prstGeom prst="ellipse">
            <a:avLst/>
          </a:prstGeom>
          <a:solidFill>
            <a:srgbClr val="3B9BF4">
              <a:alpha val="45000"/>
            </a:srgbClr>
          </a:solidFill>
          <a:ln w="12700">
            <a:solidFill>
              <a:srgbClr val="3B9BF4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DE CLOUD, IOT E INDÚSTRIA 4.0 EM 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Irrigação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74904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com Arduino Uno · TinkerCAD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3840480"/>
            <a:ext cx="2743200" cy="18288"/>
          </a:xfrm>
          <a:prstGeom prst="rect">
            <a:avLst/>
          </a:prstGeom>
          <a:solidFill>
            <a:srgbClr val="5E7A99"/>
          </a:solidFill>
          <a:ln w="12700">
            <a:solidFill>
              <a:srgbClr val="5E7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· Erich · Carla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github.com/HenriqueJanser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💧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projeto?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simula um sistema de irrigação automática utilizando Arduino Uno no TinkerCAD. O objetivo é demonstrar como sensores e atuadores podem trabalhar juntos para automatizar o processo de irrigação de plantas, tomando decisões em tempo real com base na umidade do solo.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5120640" cy="1463040"/>
          </a:xfrm>
          <a:prstGeom prst="rect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108960"/>
            <a:ext cx="54864" cy="1463040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lê a umidade do solo em tempo real e aciona a bomba d'água automaticamente quando necessário."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2160" y="146304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1463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69748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697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931920"/>
            <a:ext cx="685800" cy="68580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931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3931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Bomba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Utilizados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40" name="Shape 40"/>
          <p:cNvSpPr/>
          <p:nvPr/>
        </p:nvSpPr>
        <p:spPr>
          <a:xfrm>
            <a:off x="274320" y="139000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41" name="Text 41"/>
          <p:cNvSpPr/>
          <p:nvPr/>
        </p:nvSpPr>
        <p:spPr>
          <a:xfrm>
            <a:off x="415760" y="1790920"/>
            <a:ext cx="357200" cy="357200"/>
          </a:xfrm>
          <a:prstGeom prst="ellipse">
            <a:avLst/>
          </a:prstGeom>
          <a:solidFill>
            <a:srgbClr val="1A6FBF">
              <a:alpha val="20000"/>
            </a:srgbClr>
          </a:solidFill>
          <a:ln w="19050">
            <a:solidFill>
              <a:srgbClr val="1A6FB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</a:rPr>
              <a:t>A</a:t>
            </a:r>
            <a:endParaRPr lang="en-US" sz="1600" dirty="0"/>
          </a:p>
        </p:txBody>
      </p:sp>
      <p:sp>
        <p:nvSpPr>
          <p:cNvPr id="42" name="Text 42"/>
          <p:cNvSpPr/>
          <p:nvPr/>
        </p:nvSpPr>
        <p:spPr>
          <a:xfrm>
            <a:off x="914400" y="151000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100" dirty="0"/>
          </a:p>
        </p:txBody>
      </p:sp>
      <p:sp>
        <p:nvSpPr>
          <p:cNvPr id="43" name="Text 43"/>
          <p:cNvSpPr/>
          <p:nvPr/>
        </p:nvSpPr>
        <p:spPr>
          <a:xfrm>
            <a:off x="914400" y="182000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central. Processa os dados do sensor e controla os atuadores.</a:t>
            </a:r>
            <a:endParaRPr lang="pt-BR" sz="900" dirty="0"/>
          </a:p>
        </p:txBody>
      </p:sp>
      <p:sp>
        <p:nvSpPr>
          <p:cNvPr id="44" name="Shape 44"/>
          <p:cNvSpPr/>
          <p:nvPr/>
        </p:nvSpPr>
        <p:spPr>
          <a:xfrm>
            <a:off x="3169920" y="139000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45" name="Text 45"/>
          <p:cNvSpPr/>
          <p:nvPr/>
        </p:nvSpPr>
        <p:spPr>
          <a:xfrm>
            <a:off x="3311360" y="1790920"/>
            <a:ext cx="357200" cy="357200"/>
          </a:xfrm>
          <a:prstGeom prst="ellipse">
            <a:avLst/>
          </a:prstGeom>
          <a:solidFill>
            <a:srgbClr val="2E8B57">
              <a:alpha val="20000"/>
            </a:srgbClr>
          </a:solidFill>
          <a:ln w="19050">
            <a:solidFill>
              <a:srgbClr val="2E8B5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</a:rPr>
              <a:t>S</a:t>
            </a:r>
            <a:endParaRPr lang="en-US" sz="1600" dirty="0"/>
          </a:p>
        </p:txBody>
      </p:sp>
      <p:sp>
        <p:nvSpPr>
          <p:cNvPr id="46" name="Text 46"/>
          <p:cNvSpPr/>
          <p:nvPr/>
        </p:nvSpPr>
        <p:spPr>
          <a:xfrm>
            <a:off x="3810000" y="151000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Umidade</a:t>
            </a:r>
            <a:endParaRPr lang="en-US" sz="1100" dirty="0"/>
          </a:p>
        </p:txBody>
      </p:sp>
      <p:sp>
        <p:nvSpPr>
          <p:cNvPr id="47" name="Text 47"/>
          <p:cNvSpPr/>
          <p:nvPr/>
        </p:nvSpPr>
        <p:spPr>
          <a:xfrm>
            <a:off x="3810000" y="182000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umidade do solo e envia o sinal analógico ao Arduino continuamente.</a:t>
            </a:r>
            <a:endParaRPr lang="pt-BR" sz="900" dirty="0"/>
          </a:p>
        </p:txBody>
      </p:sp>
      <p:sp>
        <p:nvSpPr>
          <p:cNvPr id="48" name="Shape 48"/>
          <p:cNvSpPr/>
          <p:nvPr/>
        </p:nvSpPr>
        <p:spPr>
          <a:xfrm>
            <a:off x="6065520" y="139000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49" name="Text 49"/>
          <p:cNvSpPr/>
          <p:nvPr/>
        </p:nvSpPr>
        <p:spPr>
          <a:xfrm>
            <a:off x="6206960" y="1790920"/>
            <a:ext cx="357200" cy="357200"/>
          </a:xfrm>
          <a:prstGeom prst="ellipse">
            <a:avLst/>
          </a:prstGeom>
          <a:solidFill>
            <a:srgbClr val="7B3FA0">
              <a:alpha val="20000"/>
            </a:srgbClr>
          </a:solidFill>
          <a:ln w="19050">
            <a:solidFill>
              <a:srgbClr val="7B3FA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3FA0"/>
                </a:solidFill>
                <a:latin typeface="Calibri" pitchFamily="34" charset="0"/>
              </a:rPr>
              <a:t>R</a:t>
            </a:r>
            <a:endParaRPr lang="en-US" sz="1600" dirty="0"/>
          </a:p>
        </p:txBody>
      </p:sp>
      <p:sp>
        <p:nvSpPr>
          <p:cNvPr id="50" name="Text 50"/>
          <p:cNvSpPr/>
          <p:nvPr/>
        </p:nvSpPr>
        <p:spPr>
          <a:xfrm>
            <a:off x="6705600" y="151000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Relé</a:t>
            </a:r>
            <a:endParaRPr lang="en-US" sz="1100" dirty="0"/>
          </a:p>
        </p:txBody>
      </p:sp>
      <p:sp>
        <p:nvSpPr>
          <p:cNvPr id="51" name="Text 51"/>
          <p:cNvSpPr/>
          <p:nvPr/>
        </p:nvSpPr>
        <p:spPr>
          <a:xfrm>
            <a:off x="6705600" y="182000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e desliga a bomba d’água com base no sinal recebido do Arduino.</a:t>
            </a:r>
            <a:endParaRPr lang="pt-BR" sz="900" dirty="0"/>
          </a:p>
        </p:txBody>
      </p:sp>
      <p:sp>
        <p:nvSpPr>
          <p:cNvPr id="52" name="Shape 52"/>
          <p:cNvSpPr/>
          <p:nvPr/>
        </p:nvSpPr>
        <p:spPr>
          <a:xfrm>
            <a:off x="274320" y="264048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53" name="Text 53"/>
          <p:cNvSpPr/>
          <p:nvPr/>
        </p:nvSpPr>
        <p:spPr>
          <a:xfrm>
            <a:off x="415760" y="3041400"/>
            <a:ext cx="357200" cy="357200"/>
          </a:xfrm>
          <a:prstGeom prst="ellipse">
            <a:avLst/>
          </a:prstGeom>
          <a:solidFill>
            <a:srgbClr val="E07B00">
              <a:alpha val="20000"/>
            </a:srgbClr>
          </a:solidFill>
          <a:ln w="19050">
            <a:solidFill>
              <a:srgbClr val="E07B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libri" pitchFamily="34" charset="0"/>
              </a:rPr>
              <a:t>M</a:t>
            </a:r>
            <a:endParaRPr lang="en-US" sz="1600" dirty="0"/>
          </a:p>
        </p:txBody>
      </p:sp>
      <p:sp>
        <p:nvSpPr>
          <p:cNvPr id="54" name="Text 54"/>
          <p:cNvSpPr/>
          <p:nvPr/>
        </p:nvSpPr>
        <p:spPr>
          <a:xfrm>
            <a:off x="914400" y="276048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DC (Bomba)</a:t>
            </a:r>
            <a:endParaRPr lang="en-US" sz="1100" dirty="0"/>
          </a:p>
        </p:txBody>
      </p:sp>
      <p:sp>
        <p:nvSpPr>
          <p:cNvPr id="55" name="Text 55"/>
          <p:cNvSpPr/>
          <p:nvPr/>
        </p:nvSpPr>
        <p:spPr>
          <a:xfrm>
            <a:off x="914400" y="307048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a bomba d’água. Liga quando o solo está seco, desliga quando úmido.</a:t>
            </a:r>
            <a:endParaRPr lang="pt-BR" sz="900" dirty="0"/>
          </a:p>
        </p:txBody>
      </p:sp>
      <p:sp>
        <p:nvSpPr>
          <p:cNvPr id="56" name="Shape 56"/>
          <p:cNvSpPr/>
          <p:nvPr/>
        </p:nvSpPr>
        <p:spPr>
          <a:xfrm>
            <a:off x="3169920" y="264048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57" name="Text 57"/>
          <p:cNvSpPr/>
          <p:nvPr/>
        </p:nvSpPr>
        <p:spPr>
          <a:xfrm>
            <a:off x="3311360" y="3041400"/>
            <a:ext cx="357200" cy="357200"/>
          </a:xfrm>
          <a:prstGeom prst="ellipse">
            <a:avLst/>
          </a:prstGeom>
          <a:solidFill>
            <a:srgbClr val="CC2200">
              <a:alpha val="20000"/>
            </a:srgbClr>
          </a:solidFill>
          <a:ln w="19050">
            <a:solidFill>
              <a:srgbClr val="CC22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2200"/>
                </a:solidFill>
                <a:latin typeface="Calibri" pitchFamily="34" charset="0"/>
              </a:rPr>
              <a:t>V</a:t>
            </a:r>
            <a:endParaRPr lang="en-US" sz="1600" dirty="0"/>
          </a:p>
        </p:txBody>
      </p:sp>
      <p:sp>
        <p:nvSpPr>
          <p:cNvPr id="58" name="Text 58"/>
          <p:cNvSpPr/>
          <p:nvPr/>
        </p:nvSpPr>
        <p:spPr>
          <a:xfrm>
            <a:off x="3810000" y="276048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Vermelho</a:t>
            </a:r>
            <a:endParaRPr lang="en-US" sz="1100" dirty="0"/>
          </a:p>
        </p:txBody>
      </p:sp>
      <p:sp>
        <p:nvSpPr>
          <p:cNvPr id="59" name="Text 59"/>
          <p:cNvSpPr/>
          <p:nvPr/>
        </p:nvSpPr>
        <p:spPr>
          <a:xfrm>
            <a:off x="3810000" y="307048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visual: acende quando o solo está seco e a irrigação está ativa.</a:t>
            </a:r>
            <a:endParaRPr lang="pt-BR" sz="900" dirty="0"/>
          </a:p>
        </p:txBody>
      </p:sp>
      <p:sp>
        <p:nvSpPr>
          <p:cNvPr id="60" name="Shape 60"/>
          <p:cNvSpPr/>
          <p:nvPr/>
        </p:nvSpPr>
        <p:spPr>
          <a:xfrm>
            <a:off x="6065520" y="264048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61" name="Text 61"/>
          <p:cNvSpPr/>
          <p:nvPr/>
        </p:nvSpPr>
        <p:spPr>
          <a:xfrm>
            <a:off x="6206960" y="3041400"/>
            <a:ext cx="357200" cy="357200"/>
          </a:xfrm>
          <a:prstGeom prst="ellipse">
            <a:avLst/>
          </a:prstGeom>
          <a:solidFill>
            <a:srgbClr val="2E7D32">
              <a:alpha val="20000"/>
            </a:srgbClr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</a:rPr>
              <a:t>V</a:t>
            </a:r>
            <a:endParaRPr lang="en-US" sz="1600" dirty="0"/>
          </a:p>
        </p:txBody>
      </p:sp>
      <p:sp>
        <p:nvSpPr>
          <p:cNvPr id="62" name="Text 62"/>
          <p:cNvSpPr/>
          <p:nvPr/>
        </p:nvSpPr>
        <p:spPr>
          <a:xfrm>
            <a:off x="6705600" y="276048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Verde</a:t>
            </a:r>
            <a:endParaRPr lang="en-US" sz="1100" dirty="0"/>
          </a:p>
        </p:txBody>
      </p:sp>
      <p:sp>
        <p:nvSpPr>
          <p:cNvPr id="63" name="Text 63"/>
          <p:cNvSpPr/>
          <p:nvPr/>
        </p:nvSpPr>
        <p:spPr>
          <a:xfrm>
            <a:off x="6705600" y="307048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visual: acende quando o solo está úmido e a irrigação está pausada.</a:t>
            </a:r>
            <a:endParaRPr lang="pt-BR" sz="900" dirty="0"/>
          </a:p>
        </p:txBody>
      </p:sp>
      <p:sp>
        <p:nvSpPr>
          <p:cNvPr id="64" name="Shape 64"/>
          <p:cNvSpPr/>
          <p:nvPr/>
        </p:nvSpPr>
        <p:spPr>
          <a:xfrm>
            <a:off x="3169920" y="3890960"/>
            <a:ext cx="2804160" cy="115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1F5"/>
            </a:solidFill>
            <a:prstDash val="solid"/>
          </a:ln>
          <a:effectLst>
            <a:outerShdw sx="100000" sy="100000" kx="0" ky="0" algn="bl" rotWithShape="0" blurRad="76200" dist="25400" dir="8100000">
              <a:srgbClr val="C0D8F0">
                <a:alpha val="20000"/>
              </a:srgbClr>
            </a:outerShdw>
          </a:effectLst>
        </p:spPr>
      </p:sp>
      <p:sp>
        <p:nvSpPr>
          <p:cNvPr id="65" name="Text 65"/>
          <p:cNvSpPr/>
          <p:nvPr/>
        </p:nvSpPr>
        <p:spPr>
          <a:xfrm>
            <a:off x="3311360" y="4291880"/>
            <a:ext cx="357200" cy="357200"/>
          </a:xfrm>
          <a:prstGeom prst="ellipse">
            <a:avLst/>
          </a:prstGeom>
          <a:solidFill>
            <a:srgbClr val="0077AA">
              <a:alpha val="20000"/>
            </a:srgbClr>
          </a:solidFill>
          <a:ln w="19050">
            <a:solidFill>
              <a:srgbClr val="0077A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AA"/>
                </a:solidFill>
                <a:latin typeface="Calibri" pitchFamily="34" charset="0"/>
              </a:rPr>
              <a:t>L</a:t>
            </a:r>
            <a:endParaRPr lang="en-US" sz="1600" dirty="0"/>
          </a:p>
        </p:txBody>
      </p:sp>
      <p:sp>
        <p:nvSpPr>
          <p:cNvPr id="66" name="Text 66"/>
          <p:cNvSpPr/>
          <p:nvPr/>
        </p:nvSpPr>
        <p:spPr>
          <a:xfrm>
            <a:off x="3810000" y="4010960"/>
            <a:ext cx="207264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LCD I2C (PCF8574)</a:t>
            </a:r>
            <a:endParaRPr lang="en-US" sz="1100" dirty="0"/>
          </a:p>
        </p:txBody>
      </p:sp>
      <p:sp>
        <p:nvSpPr>
          <p:cNvPr id="67" name="Text 67"/>
          <p:cNvSpPr/>
          <p:nvPr/>
        </p:nvSpPr>
        <p:spPr>
          <a:xfrm>
            <a:off x="3810000" y="4320960"/>
            <a:ext cx="2072640" cy="63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a umidade do solo em % em tempo real via protocolo I2C.</a:t>
            </a:r>
            <a:endParaRPr lang="pt-B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6459"/>
          </a:xfrm>
          <a:prstGeom prst="rect">
            <a:avLst/>
          </a:prstGeom>
          <a:solidFill>
            <a:srgbClr val="D0E1F5"/>
          </a:solidFill>
          <a:ln w="12700">
            <a:solidFill>
              <a:srgbClr val="D0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sensor de umidade mede continuamente a umidade do solo e envia o valor ao Arduino.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50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Automática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79806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Arduino compara o valor lido com o limite definido. Solo seco → aciona; Solo úmido → aguarda.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33467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3467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da Bomba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69417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relé recebe o sinal e liga o motor DC (bomba), iniciando a irrigação do solo.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" y="424281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Visual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59028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LEDs indicam o estado atual: vermelho (irrigando) ou verde (solo úmido, parado).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6FBF">
              <a:alpha val="12000"/>
            </a:srgbClr>
          </a:solidFill>
          <a:ln w="12700">
            <a:solidFill>
              <a:srgbClr val="1A6FBF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B9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Aprendizados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6459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196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 atuadores funcionando de forma integrada no TinkerCAD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decisão simples e eficaz com Arduino Uno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31912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automação e IoT aplicados de forma prática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877056"/>
            <a:ext cx="201168" cy="36576"/>
          </a:xfrm>
          <a:prstGeom prst="rect">
            <a:avLst/>
          </a:prstGeom>
          <a:solidFill>
            <a:srgbClr val="3B9BF4"/>
          </a:solidFill>
          <a:ln w="12700">
            <a:solidFill>
              <a:srgbClr val="3B9B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expansão com Python, MQTT e monitoramento em nuvem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2286000" cy="1828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· Erich · Carla  ·  github.com/HenriqueJanser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Irrigação Automática</dc:title>
  <dc:subject>PptxGenJS Presentation</dc:subject>
  <dc:creator>Henrique Janser</dc:creator>
  <cp:lastModifiedBy>Henrique Janser</cp:lastModifiedBy>
  <cp:revision>1</cp:revision>
  <dcterms:created xsi:type="dcterms:W3CDTF">2026-05-27T23:52:31Z</dcterms:created>
  <dcterms:modified xsi:type="dcterms:W3CDTF">2026-05-27T23:52:31Z</dcterms:modified>
</cp:coreProperties>
</file>